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Revenue vs Ad Spend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D7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459.99</c:v>
                </c:pt>
                <c:pt idx="1">
                  <c:v>943.47</c:v>
                </c:pt>
                <c:pt idx="2">
                  <c:v>1492.75</c:v>
                </c:pt>
                <c:pt idx="3">
                  <c:v>1919.9</c:v>
                </c:pt>
                <c:pt idx="4">
                  <c:v>2066.95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 Spend (₹ Cr)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209.72</c:v>
                </c:pt>
                <c:pt idx="1">
                  <c:v>544.54</c:v>
                </c:pt>
                <c:pt idx="2">
                  <c:v>797.44</c:v>
                </c:pt>
                <c:pt idx="3">
                  <c:v>970.96</c:v>
                </c:pt>
                <c:pt idx="4">
                  <c:v>1102.33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Net Profit Trajectory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Cr)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-1332.22</c:v>
                </c:pt>
                <c:pt idx="1">
                  <c:v>15.72</c:v>
                </c:pt>
                <c:pt idx="2">
                  <c:v>-142.81</c:v>
                </c:pt>
                <c:pt idx="3">
                  <c:v>111.82</c:v>
                </c:pt>
                <c:pt idx="4">
                  <c:v>72.69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039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Quarterly Revenue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D7E7A"/>
            </a:solidFill>
            <a:ln w="31750" cap="flat">
              <a:solidFill>
                <a:srgbClr val="0D7E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E7A"/>
              </a:solidFill>
              <a:ln w="9525" cap="flat">
                <a:solidFill>
                  <a:srgbClr val="0D7E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Q2FY24</c:v>
                  </c:pt>
                  <c:pt idx="1">
                    <c:v>Q3FY24</c:v>
                  </c:pt>
                  <c:pt idx="2">
                    <c:v>Q4FY24</c:v>
                  </c:pt>
                  <c:pt idx="3">
                    <c:v>Q1FY25</c:v>
                  </c:pt>
                  <c:pt idx="4">
                    <c:v>Q2FY25</c:v>
                  </c:pt>
                  <c:pt idx="5">
                    <c:v>Q3FY25</c:v>
                  </c:pt>
                  <c:pt idx="6">
                    <c:v>Q4FY25</c:v>
                  </c:pt>
                  <c:pt idx="7">
                    <c:v>Q1FY26</c:v>
                  </c:pt>
                  <c:pt idx="8">
                    <c:v>Q2FY26</c:v>
                  </c:pt>
                  <c:pt idx="9">
                    <c:v>Q3FY26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496.11</c:v>
                </c:pt>
                <c:pt idx="1">
                  <c:v>488.22</c:v>
                </c:pt>
                <c:pt idx="2">
                  <c:v>471.09</c:v>
                </c:pt>
                <c:pt idx="3">
                  <c:v>554.06</c:v>
                </c:pt>
                <c:pt idx="4">
                  <c:v>461.82</c:v>
                </c:pt>
                <c:pt idx="5">
                  <c:v>517.51</c:v>
                </c:pt>
                <c:pt idx="6">
                  <c:v>533.56</c:v>
                </c:pt>
                <c:pt idx="7">
                  <c:v>595.25</c:v>
                </c:pt>
                <c:pt idx="8">
                  <c:v>538.06</c:v>
                </c:pt>
                <c:pt idx="9">
                  <c:v>601.54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Quarterly Net Profit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Cr)</c:v>
                </c:pt>
              </c:strCache>
            </c:strRef>
          </c:tx>
          <c:spPr>
            <a:solidFill>
              <a:srgbClr val="0F7B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7B5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Q2FY24</c:v>
                  </c:pt>
                  <c:pt idx="1">
                    <c:v>Q3FY24</c:v>
                  </c:pt>
                  <c:pt idx="2">
                    <c:v>Q4FY24</c:v>
                  </c:pt>
                  <c:pt idx="3">
                    <c:v>Q1FY25</c:v>
                  </c:pt>
                  <c:pt idx="4">
                    <c:v>Q2FY25</c:v>
                  </c:pt>
                  <c:pt idx="5">
                    <c:v>Q3FY25</c:v>
                  </c:pt>
                  <c:pt idx="6">
                    <c:v>Q4FY25</c:v>
                  </c:pt>
                  <c:pt idx="7">
                    <c:v>Q1FY26</c:v>
                  </c:pt>
                  <c:pt idx="8">
                    <c:v>Q2FY26</c:v>
                  </c:pt>
                  <c:pt idx="9">
                    <c:v>Q3FY26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29.44</c:v>
                </c:pt>
                <c:pt idx="1">
                  <c:v>25.9</c:v>
                </c:pt>
                <c:pt idx="2">
                  <c:v>30.48</c:v>
                </c:pt>
                <c:pt idx="3">
                  <c:v>40.26</c:v>
                </c:pt>
                <c:pt idx="4">
                  <c:v>-18.58</c:v>
                </c:pt>
                <c:pt idx="5">
                  <c:v>26.02</c:v>
                </c:pt>
                <c:pt idx="6">
                  <c:v>24.98</c:v>
                </c:pt>
                <c:pt idx="7">
                  <c:v>41.33</c:v>
                </c:pt>
                <c:pt idx="8">
                  <c:v>39.23</c:v>
                </c:pt>
                <c:pt idx="9">
                  <c:v>50.2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Revenue Build: Total vs Tier-2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 Cr)</c:v>
                </c:pt>
              </c:strCache>
            </c:strRef>
          </c:tx>
          <c:spPr>
            <a:solidFill>
              <a:srgbClr val="0F20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(Actual)</c:v>
                  </c:pt>
                  <c:pt idx="1">
                    <c:v>FY26E</c:v>
                  </c:pt>
                  <c:pt idx="2">
                    <c:v>FY27E</c:v>
                  </c:pt>
                  <c:pt idx="3">
                    <c:v>FY28E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2066.95</c:v>
                </c:pt>
                <c:pt idx="1">
                  <c:v>2400</c:v>
                </c:pt>
                <c:pt idx="2">
                  <c:v>2900</c:v>
                </c:pt>
                <c:pt idx="3">
                  <c:v>3500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Tier-2 Revenue (₹ Cr)</c:v>
                </c:pt>
              </c:strCache>
            </c:strRef>
          </c:tx>
          <c:spPr>
            <a:solidFill>
              <a:srgbClr val="0D7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FY25 (Actual)</c:v>
                  </c:pt>
                  <c:pt idx="1">
                    <c:v>FY26E</c:v>
                  </c:pt>
                  <c:pt idx="2">
                    <c:v>FY27E</c:v>
                  </c:pt>
                  <c:pt idx="3">
                    <c:v>FY28E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350</c:v>
                </c:pt>
                <c:pt idx="2">
                  <c:v>810</c:v>
                </c:pt>
                <c:pt idx="3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Tier-2 Net Margin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Tier-2 Net Margin (%)</c:v>
                </c:pt>
              </c:strCache>
            </c:strRef>
          </c:tx>
          <c:spPr>
            <a:solidFill>
              <a:srgbClr val="0F7B5A"/>
            </a:solidFill>
            <a:ln w="31750" cap="flat">
              <a:solidFill>
                <a:srgbClr val="0F7B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7B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B5A"/>
              </a:solidFill>
              <a:ln w="9525" cap="flat">
                <a:solidFill>
                  <a:srgbClr val="0F7B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FY25 (Actual)</c:v>
                  </c:pt>
                  <c:pt idx="1">
                    <c:v>FY26E</c:v>
                  </c:pt>
                  <c:pt idx="2">
                    <c:v>FY27E</c:v>
                  </c:pt>
                  <c:pt idx="3">
                    <c:v>FY28E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5.5</c:v>
                </c:pt>
                <c:pt idx="3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7B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A89E"/>
                </a:solidFill>
              </a:rPr>
              <a:t>HONASA CONSUMER LTD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9601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Mamaearth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Tier-2 India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 Entry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Strategy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749040" y="3429000"/>
            <a:ext cx="5120640" cy="274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Strategic Consulting Report  ·  Business Analytics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38221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April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822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₹2,067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353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AFA"/>
                </a:solidFill>
              </a:rPr>
              <a:t>FY25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2560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4.5×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AFA"/>
                </a:solidFill>
              </a:rPr>
              <a:t>4-Year Growth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2560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AFA"/>
                </a:solidFill>
              </a:rPr>
              <a:t>Revenue → Ad Spend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2560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−35%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" y="4370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AFA"/>
                </a:solidFill>
              </a:rPr>
              <a:t>Net Profit YoY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4800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Data: Screener.in · Honasa Consumer FY25 Annual Report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EXECUTIVE SUMMARY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The 60-Second Version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Problem → Data → Insight → Action → Impact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19786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197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197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1554480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Mamaearth has &lt;1% revenue from Tier-2 cities despite those markets representing 40%+ of India's 1.4B consumer base. Revenue grew 4.5× in 4 years — profitability collapsed.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78992"/>
            <a:ext cx="420624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197864"/>
            <a:ext cx="274320" cy="2743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197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1197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Pricing 20–30% above alternatives + near-zero General Trade distribution + digital-only marketing in markets where 65% of consumers buy offline.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95351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53512"/>
            <a:ext cx="4206240" cy="54864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" y="3072384"/>
            <a:ext cx="274320" cy="274320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072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DATA PROOF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" y="3429000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 spend: ₹1,102 Cr (53% of revenue) in FY25. Net profit fell from ₹112 Cr (FY24) → ₹73 Cr (FY25), a 35% collapse. Operating cash flow: ₹102 Cr vs ₹235 Cr prior year.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95351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53512"/>
            <a:ext cx="4206240" cy="54864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3072384"/>
            <a:ext cx="274320" cy="274320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3072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3429000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Phygital entry: ₹99–₹149 SKUs + 50K Kirana stores + 500 micro-influencers. Hard ad cap: ≤30% of Tier-2 revenue. Target: ₹1,400 Cr Tier-2 revenue by FY28.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HYPOTHESIS &amp; PROBLEM DEFINITION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1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960120"/>
          </a:xfrm>
          <a:prstGeom prst="rect">
            <a:avLst/>
          </a:prstGeom>
          <a:solidFill>
            <a:srgbClr val="EBF4FD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0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7E7A"/>
                </a:solidFill>
              </a:rPr>
              <a:t>HYPOTHESIS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044"/>
                </a:solidFill>
              </a:rPr>
              <a:t>High pricing (20–30% premium) and near-zero General Trade distribution are the primary structural barriers preventing Mamaearth from achieving profitable scale in Tier-2 India — not brand awareness.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Mamaearth faces critically limited Tier-2 penetration due to three compounding barriers: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5146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514600"/>
            <a:ext cx="2743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Price Barrier — Quantifiable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264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</a:rPr>
              <a:t>20–30%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above market avg.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25603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959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Face wash ₹249 vs Himalaya ₹175 vs Patanjali ₹120. In Tier-2, ₹249 = 21–31% of a consumer's entire monthly personal care budget (₹800–₹1,200).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0" y="25146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514600"/>
            <a:ext cx="2743200" cy="45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Distribution — Structurally Absent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3264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4"/>
                </a:solidFill>
              </a:rPr>
              <a:t>&lt;5%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9184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GT channel share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3931920"/>
            <a:ext cx="25603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9959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Mamaearth sells 80%+ via D2C &amp; quick commerce — which cover only 12–18% of Tier-2 cities. Himalaya &amp; HUL each have 2M+ General Trade touchpoints.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72200" y="25146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2514600"/>
            <a:ext cx="2743200" cy="4572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E7A"/>
                </a:solidFill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Brand Recall — Critically 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264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E7A"/>
                </a:solidFill>
              </a:rPr>
              <a:t>34%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6364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Tier-2 recall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63640" y="3931920"/>
            <a:ext cx="25603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9959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Tier-1 recall: 67–72% (IMRB). Tier-2 recall: ~34%. No vernacular content, no regional TV, no in-store visibility. Patanjali Tier-2 recall: 78%.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FINANCIAL REALITY — GROWTH IS REAL. PROFITABILITY IS NOT.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2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28600" y="8229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349240" y="82296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005072"/>
            <a:ext cx="20116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4005072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078224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₹1,102 Cr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5760" y="4456786"/>
            <a:ext cx="182880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 Spend FY25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466526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53% of total revenue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423160" y="4005072"/>
            <a:ext cx="20116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23160" y="4005072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0320" y="4078224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3.5%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560320" y="4456786"/>
            <a:ext cx="182880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Net Margin FY25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60320" y="466526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vs 5.8% in FY24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617720" y="4005072"/>
            <a:ext cx="20116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17720" y="4005072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4078224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−35%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754880" y="4456786"/>
            <a:ext cx="182880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Net Profit YoY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754880" y="466526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₹112 Cr → ₹73 Cr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812280" y="4005072"/>
            <a:ext cx="20116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812280" y="4005072"/>
            <a:ext cx="54864" cy="86868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4078224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E7A"/>
                </a:solidFill>
              </a:rPr>
              <a:t>₹102 Cr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6949440" y="4456786"/>
            <a:ext cx="182880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Op. Cash Flow FY25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949440" y="4665269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vs ₹235 Cr FY24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228600" y="786384"/>
            <a:ext cx="86868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— Screener.in Data Sheet | FY21–FY25 Annual Results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QUARTERLY PERFORMANCE — REVENUE VS PROFITABILITY SQUEEZE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2B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28600" y="8229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349240" y="822960"/>
          <a:ext cx="3566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3840480"/>
            <a:ext cx="868680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⚠  CONSULTANT INSIGHT: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11480" y="416052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Q2FY25 net profit turned negative (−₹18.6 Cr) despite ₹462 Cr in revenue — a direct consequence of ₹492 Cr in expenses exceeding revenue. Recovery in Q3FY25 is marginal. The model structurally cannot sustain Tier-2 expansion without rearchitecting the cost base first. Latest quarters (Q1–Q3 FY26) show recovery, with OPM recovering to 10.9% — but the fundamental ad-spend ceiling remains.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— Screener.in Quarterly Data Sheet | Q2 FY24 – Q3 FY26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INSIGHTS — WHAT THE DATA ACTUALLY TELLS 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3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Five insights derived from Honasa financial data + primary &amp; secondary market research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78992"/>
            <a:ext cx="54864" cy="694944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78992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7A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152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Tier-2 is NOT a smaller Tier-1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40817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Tier-2 consumers are more price-elastic, more trust-driven, and more offline-dependent. Applying the same D2C playbook will produce the same result: expensive failure.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847088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47088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4708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pricing gap is a hard barrier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1762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Mamaearth face wash at ₹249 is 2× Patanjali (₹120) and 42% more than Himalaya (₹175). In markets where total personal care spend is ₹800–₹1,200/month, this is not a 'perception' problem — it's arithmetic.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615184"/>
            <a:ext cx="54864" cy="69494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1518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2688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Mamaearth is physically invisible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944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34% brand recall vs 78% for Patanjali in Tier-2. No regional TV, no vernacular social, no in-store presence. You cannot sell products consumers have never seen on a shelf.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383280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383280"/>
            <a:ext cx="54864" cy="69494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8328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3456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ad model is structurally broken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7124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53% of revenue (₹1,102 Cr) spent on ads, yet net profit fell 35% YoY. Each rupee of Tier-2 revenue acquired at this rate destroys value. The model must be rebuilt, not replicated.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4151376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151376"/>
            <a:ext cx="54864" cy="694944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51376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A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 competitive window is closing fast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480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Patanjali: 4,000+ stores, 78% recall. HUL: 3.5M+ touchpoints. Neither owns 'premium natural' in Tier-2 yet — that gap is the entry point. But it is closing as these incumbents upgrade their positioning.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MARKET ANALYSIS — THE TIER-2 OPPORTUNITY IS SPECIFIC, NOT ABSTRACT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4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219456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54864" cy="100584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E7A"/>
                </a:solidFill>
              </a:rPr>
              <a:t>$5.6 Bn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345997"/>
            <a:ext cx="201168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India Skincare 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587398"/>
            <a:ext cx="20116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~11% CAGR to 2030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06040" y="822960"/>
            <a:ext cx="219456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822960"/>
            <a:ext cx="54864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896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400M+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1345997"/>
            <a:ext cx="201168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Tier-2/3 Consumers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587398"/>
            <a:ext cx="20116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Aspiring middle income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83480" y="822960"/>
            <a:ext cx="219456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822960"/>
            <a:ext cx="54864" cy="100584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96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5A"/>
                </a:solidFill>
              </a:rPr>
              <a:t>18% CAGR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1345997"/>
            <a:ext cx="201168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Natural Beauty Tier-2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587398"/>
            <a:ext cx="20116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vs 11% nationally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60920" y="822960"/>
            <a:ext cx="2194560" cy="100584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822960"/>
            <a:ext cx="54864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896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38"/>
                </a:solidFill>
              </a:rPr>
              <a:t>65%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1345997"/>
            <a:ext cx="201168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Buy Offline in Tier-2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1587398"/>
            <a:ext cx="20116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GT + Kirana dominant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004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WHY TIER-2, WHY NOW?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340864"/>
            <a:ext cx="347472" cy="347472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58%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Internet penetration in Tier-2 (TRAI 2024), up from 34% in 2020 — digital touchpoints now viable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852928"/>
            <a:ext cx="347472" cy="347472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200+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232" y="2871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Tier-2 cities now served by JioMart + Blinkit — the distribution moat is shrinking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364992"/>
            <a:ext cx="347472" cy="347472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+8%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3232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Female workforce participation growth since 2021 in Tier-2 — self-care spend follows income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877056"/>
            <a:ext cx="347472" cy="347472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78%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3232" y="3895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Patanjali brand recall vs Mamaearth's 34% — but Patanjali does NOT own 'premium natural'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389120"/>
            <a:ext cx="347472" cy="347472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 brand currently owns the 'premium certified-natural' positioning in Tier-2 — gap exists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965960"/>
            <a:ext cx="4251960" cy="2926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A89E"/>
                </a:solidFill>
              </a:rPr>
              <a:t>OPPORTUNITY FRAMING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24231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Natural beauty growing 18% CAGR in Tier-2 — fastest segment in FMCG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2926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brand owns 'premium toxin-free' in Tier-2 — incumbents compete on price, not positioning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0600" y="34290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Tier-2 personal care market to reach $3.2 Bn by 2027 (Euromonitor)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39319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Honasa's market cap: ₹11,351 Cr — financial capacity exists to fund expansion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4434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</a:rPr>
              <a:t>→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D2C + Kirana tech (JioMart B2B) now enables Tier-2 distribution at lower capex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TRAI 2024 | Euromonitor India Skincare 2024 | IBEF FMCG | Honasa Consumer Data Sheet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COMPETITIVE LANDSCAPE — MAMAEARTH IS BEHIND IN TIER-2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5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169164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804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Brand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804672"/>
            <a:ext cx="160020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804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Tier-2 Presence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6160" y="804672"/>
            <a:ext cx="123444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8046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Price (150ml)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804672"/>
            <a:ext cx="105156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804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Recall Tier-2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804672"/>
            <a:ext cx="150876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804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GT Touchpoints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98080" y="804672"/>
            <a:ext cx="77724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804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Threat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1207008"/>
            <a:ext cx="169164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" y="12070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E7A"/>
                </a:solidFill>
              </a:rPr>
              <a:t>🌿 Mamaearth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1207008"/>
            <a:ext cx="160020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5104" y="1207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Minimal (D2C only)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1207008"/>
            <a:ext cx="123444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2070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₹249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207008"/>
            <a:ext cx="105156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20700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~34%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0" y="1207008"/>
            <a:ext cx="150876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1207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~50,000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98080" y="1207008"/>
            <a:ext cx="777240" cy="475488"/>
          </a:xfrm>
          <a:prstGeom prst="rect">
            <a:avLst/>
          </a:prstGeom>
          <a:solidFill>
            <a:srgbClr val="E8F8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12070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1207008"/>
            <a:ext cx="45720" cy="475488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1709928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17099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🏢 HUL (Dove/Lakme)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1709928"/>
            <a:ext cx="1600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17099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Very Strong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66160" y="1709928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1024" y="17099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₹195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1709928"/>
            <a:ext cx="1051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17099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65–70%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0" y="1709928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98464" y="17099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3.5M+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498080" y="1709928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52944" y="170992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HIGH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" y="2212848"/>
            <a:ext cx="16916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22128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🌱 Patanjali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20240" y="2212848"/>
            <a:ext cx="16002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75104" y="22128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Dominant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566160" y="2212848"/>
            <a:ext cx="12344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21024" y="22128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2212848"/>
            <a:ext cx="105156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01184" y="221284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~78%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43600" y="2212848"/>
            <a:ext cx="150876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98464" y="22128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4,000+ stores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98080" y="2212848"/>
            <a:ext cx="7772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21284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HIGH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2880" y="2715768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" y="2715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🏔 Himalaya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20240" y="2715768"/>
            <a:ext cx="1600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75104" y="27157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Strong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566160" y="2715768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21024" y="27157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₹175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2715768"/>
            <a:ext cx="1051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01184" y="27157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~72%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943600" y="2715768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98464" y="2715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2.5M+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98080" y="2715768"/>
            <a:ext cx="777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52944" y="27157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HIGH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82880" y="3218688"/>
            <a:ext cx="16916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2186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🔬 Plum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20240" y="3218688"/>
            <a:ext cx="16002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75104" y="32186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Low (online only)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66160" y="3218688"/>
            <a:ext cx="12344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21024" y="32186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₹299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846320" y="3218688"/>
            <a:ext cx="105156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01184" y="32186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~18%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43600" y="3218688"/>
            <a:ext cx="150876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32186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&lt;10,000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498080" y="3218688"/>
            <a:ext cx="77724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52944" y="321868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LOW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82880" y="3767328"/>
            <a:ext cx="8778240" cy="1097280"/>
          </a:xfrm>
          <a:prstGeom prst="rect">
            <a:avLst/>
          </a:prstGeom>
          <a:solidFill>
            <a:srgbClr val="FE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⚡  VERDICT: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65760" y="41148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Price is Mamaearth's #1 barrier in Tier-2. At ₹249, it costs 2× Patanjali and 42% more than Himalaya — two brands with 6–8× more GT touchpoints. No volume of marketing spend overcomes a 2× price gap against a trusted competitor with 4,000+ stores. The strategic fix must begin with price architecture, not advertising.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Company websites | NielsenIQ GT Coverage Data 2024 | IMRB Brand Recall Study 2024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SWOT ANALYSIS — EVERY POINT BACKED BY A NUMBER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6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425196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4251960" cy="347472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  STRENGTHS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22529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B5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70%+ brand recall in Tier-1 metros (IMRB)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152704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B5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Multi-brand: Derma Co, Aqualogica — addressable segments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182880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B5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₹11,351 Cr market cap — capital available for GT expansion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" y="213055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B5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30M+ social followers — proven influencer playbook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243230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B5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Cash &amp; Bank: ₹331 Cr (FY25) — liquidity buffer exists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425196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822960"/>
            <a:ext cx="4251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  WEAKNESSES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7448" y="122529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Ad spend 53% of revenue (₹1,102 Cr FY25) — structurally unsustainable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27448" y="152704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&lt;5% revenue from General Trade channel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27448" y="182880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34% brand recall Tier-2 vs 70%+ in Tier-1 (IMRB)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27448" y="213055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Net margin FY25: 3.5% — zero buffer for expansion losses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27448" y="243230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Op. cash flow fell from ₹235 Cr → ₹102 Cr YoY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834640"/>
            <a:ext cx="4251960" cy="1920240"/>
          </a:xfrm>
          <a:prstGeom prst="rect">
            <a:avLst/>
          </a:prstGeom>
          <a:solidFill>
            <a:srgbClr val="F0FDFC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834640"/>
            <a:ext cx="4251960" cy="347472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  OPPORTUNITIES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23697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E7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Natural beauty growing 18% CAGR in Tier-2 (Euromonitor)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2608" y="353872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E7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65% of Tier-2 skincare purchased offline — untapped GT market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" y="384048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E7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JioMart B2B available in 200+ Tier-2 cities for Kirana distribution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2608" y="414223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E7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No brand owns 'premium natural' positioning in Tier-2 — gap exists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" y="444398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E7A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Female workforce +8% since 2021 in Tier-2 — spend follows income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2834640"/>
            <a:ext cx="4251960" cy="1920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834640"/>
            <a:ext cx="425196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  THREATS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27448" y="3236976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HUL: 3.5M+ GT touchpoints — cannot be out-distributed on capex alone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27448" y="3538728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Patanjali: 78% Tier-2 recall + 4,000 stores + ₹120 price point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27448" y="3840480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Quick commerce: &lt;18% penetration in Tier-2 — platform moat limited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27448" y="4142232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Any margin squeeze risks triggering investor confidence crisis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27448" y="4443984"/>
            <a:ext cx="4023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</a:rPr>
              <a:t>• 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Nykaa/Minimalist gaining share in 'science-backed' segment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FY25 Annual Report | Screener.in Data Sheet | IMRB 2024 | Euromonitor | Company filings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ROOT CAUSE ANALYSIS — WHY THE GAP EXISTS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7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Strategy follows causality. Understanding root causes — not just symptoms — determines the right intervention.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78992"/>
            <a:ext cx="1920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PRICING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353312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1078992"/>
            <a:ext cx="274320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Root Cause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78608" y="1335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Premium brand positioning strategy inherited from D2C Tier-1 launch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7800" y="1353312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1078992"/>
            <a:ext cx="25603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124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Business Effect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87568" y="1335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Excludes Tier-2 consumers whose monthly personal care budget averages ₹800–₹1,200 total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133502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0D7E7A"/>
                </a:solidFill>
              </a:rPr>
              <a:t>→ Fix: Smaller SKU architecture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2011680"/>
            <a:ext cx="1920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03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GT REACH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2286000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2011680"/>
            <a:ext cx="274320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2057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Root Cause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78608" y="2267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Digital-first, D2C-led distribution model — offline never built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57800" y="2286000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2011680"/>
            <a:ext cx="25603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Business Effect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87568" y="2267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65% of Tier-2 consumers buy at Kirana stores; Mamaearth is physically absent from point of purchase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22677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0D7E7A"/>
                </a:solidFill>
              </a:rPr>
              <a:t>→ Fix: 50K Kirana expansion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2944368"/>
            <a:ext cx="1920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035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TRUST DEFICIT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48840" y="3218688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88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468880" y="2944368"/>
            <a:ext cx="274320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8608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Root Cause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578608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 vernacular content, no regional media, no in-store trust signals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3218688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577840" y="2944368"/>
            <a:ext cx="25603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Business Effect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687568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Brand recall 34% in Tier-2 vs 70%+ in Tier-1. Shelf visibility = 0 in most Tier-2 markets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3200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0D7E7A"/>
                </a:solidFill>
              </a:rPr>
              <a:t>→ Fix: Micro-influencers + GT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2880" y="3877056"/>
            <a:ext cx="1920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968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UNSUSTAINABLE COST MODEL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48840" y="4151376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4884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468880" y="3877056"/>
            <a:ext cx="274320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8608" y="3922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Root Cause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578608" y="4133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53% ad/revenue ratio optimized for D2C acquisition — incompatible with GT economics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257800" y="4151376"/>
            <a:ext cx="27432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577840" y="3877056"/>
            <a:ext cx="25603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87568" y="39227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4748B"/>
                </a:solidFill>
              </a:rPr>
              <a:t>Business Effect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687568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Every ₹1 of new revenue requires ₹0.53 in advertising. Tier-2 entry with this model amplifies losses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29600" y="413308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0D7E7A"/>
                </a:solidFill>
              </a:rPr>
              <a:t>→ Fix: ≤30% ad cap Tier-2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RECOMMENDED STRATEGY — 4 DECISIONS, NOT SUGGESTIONS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8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4251960" cy="1965960"/>
          </a:xfrm>
          <a:prstGeom prst="rect">
            <a:avLst/>
          </a:prstGeom>
          <a:solidFill>
            <a:srgbClr val="F0FDFC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4251960" cy="54864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32688"/>
            <a:ext cx="292608" cy="292608"/>
          </a:xfrm>
          <a:prstGeom prst="ellipse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932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Launch ₹99–₹149 SKUs — Tier-2 Specific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13533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WHY: Price is the #1 barrier. ₹249 is 2× Patanjali. A 60ml face wash at ₹99 puts Mamaearth in the Tier-2 consideration set without formula compromise.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92608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HOW: Repackage existing formulations in 60ml/80ml sizes. Maintain 'toxin-free' credentials. Margin maintained via smaller COGS at lower volume.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92608" y="2414016"/>
            <a:ext cx="4023360" cy="27432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KPI: ₹99–₹149 SKUs = 35% of Tier-2 revenue by Month 12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25196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22960"/>
            <a:ext cx="425196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32688"/>
            <a:ext cx="292608" cy="292608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32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9326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Build General Trade to 50K Kirana Stores (Yr 1)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3533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WHY: 65% of Tier-2 consumers buy offline. Mamaearth is functionally invisible at point of purchase — where purchase decisions are actually made.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773168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HOW: Appoint 20 regional C&amp;F distributors. JioMart B2B for Kirana app-ordering. Shelf placement incentive: 15% higher margin than competitors.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773168" y="2414016"/>
            <a:ext cx="402336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KPI: 50K Kirana stores active by Month 12. GT = 40% of Tier-2 revenue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" y="2907792"/>
            <a:ext cx="4251960" cy="1965960"/>
          </a:xfrm>
          <a:prstGeom prst="rect">
            <a:avLst/>
          </a:prstGeom>
          <a:solidFill>
            <a:srgbClr val="F0FDF4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2907792"/>
            <a:ext cx="4251960" cy="54864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017520"/>
            <a:ext cx="292608" cy="292608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017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Replace Celebrity Ads with 500 Regional Micro-Creators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2608" y="34381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WHY: Instagram penetration in Tier-2: 42%. Regional creator with 50K followers = 4× engagement vs metro celebrity with 5M. Cost: ₹10–20K vs ₹30–50L.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292608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HOW: Engage beauty influencers on Instagram/YouTube in Hindi, Telugu, Tamil, Marathi. 500 creators = ₹5–10 Cr total vs ₹200 Cr+ on celebrity campaigns.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2608" y="4498848"/>
            <a:ext cx="4023360" cy="27432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KPI: Tier-2 brand recall: 34% → 55% within 18 months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2907792"/>
            <a:ext cx="4251960" cy="1965960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907792"/>
            <a:ext cx="4251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17520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3017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Hard Cap: Tier-2 Ad Spend ≤30% of Tier-2 Revenue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4381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WHY: National model spends 53% on ads and is losing margin. Tier-2 must operate differently from Day 1 or it becomes an expensive experiment, not a strategy.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773168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</a:rPr>
              <a:t>HOW: GT in-store visibility replaces digital ads. Word-of-mouth via Kirana recommendation. Micro-creator CPM is 8–12× cheaper than paid social.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773168" y="4498848"/>
            <a:ext cx="40233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KPI: Tier-2 net margin target: 7–9% by FY28 vs 3.5% national today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IMPLEMENTATION ROADMAP — 18-MONTH PHASED EXECUTION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8B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2788920" cy="4041648"/>
          </a:xfrm>
          <a:prstGeom prst="rect">
            <a:avLst/>
          </a:prstGeom>
          <a:solidFill>
            <a:srgbClr val="F0FDFC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2788920" cy="50292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8"/>
                </a:solidFill>
              </a:rPr>
              <a:t>Month 1–3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7A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7830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E7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Launch ₹99 &amp; ₹149 SKUs (60ml/80ml pack sizes)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313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E7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Appoint 5 C&amp;F distributors in 3 pilot states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2843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E7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Onboard 100 regional micro-influencers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3374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E7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Set up JioMart B2B ordering for Kirana pilots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995928"/>
            <a:ext cx="2606040" cy="320040"/>
          </a:xfrm>
          <a:prstGeom prst="rect">
            <a:avLst/>
          </a:prstGeom>
          <a:solidFill>
            <a:srgbClr val="0D7E7A"/>
          </a:solidFill>
          <a:ln w="12700">
            <a:solidFill>
              <a:srgbClr val="0D7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050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✦  2,000 Kirana stores activated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72968" y="822960"/>
            <a:ext cx="2788920" cy="4041648"/>
          </a:xfrm>
          <a:prstGeom prst="rect">
            <a:avLst/>
          </a:prstGeom>
          <a:solidFill>
            <a:srgbClr val="EFF6FF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822960"/>
            <a:ext cx="278892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8"/>
                </a:solidFill>
              </a:rPr>
              <a:t>Month 4–9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64408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</a:rPr>
              <a:t>Scale-Up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82696" y="17830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Expand to 15 C&amp;F distributors across 50 cities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313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Scale Kirana to 25,000 stores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82696" y="2843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Launch vernacular Instagram/YouTube campaigns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82696" y="3374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Free trial sachet program at pharmacies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4408" y="3995928"/>
            <a:ext cx="2606040" cy="3200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40050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✦  25K Kirana stores | 300 micro-creators active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63056" y="822960"/>
            <a:ext cx="2788920" cy="4041648"/>
          </a:xfrm>
          <a:prstGeom prst="rect">
            <a:avLst/>
          </a:prstGeom>
          <a:solidFill>
            <a:srgbClr val="F0FDF4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822960"/>
            <a:ext cx="2788920" cy="50292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EFE8"/>
                </a:solidFill>
              </a:rPr>
              <a:t>Month 10–18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54496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5A"/>
                </a:solidFill>
              </a:rPr>
              <a:t>Profitability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72784" y="17830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Full 50,000 Kirana network across 100 cities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2313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500 regional micro-influencers fully activated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72784" y="28437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Monitor ad spend vs 30% hard cap — adjust monthly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33741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Begin Tier-2 margin positive at Month 18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54496" y="3995928"/>
            <a:ext cx="2606040" cy="32004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40050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✦  Break-even | 40% GT revenue share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FINANCIAL PROJECTIONS — TIER-2 STRATEGY SCENARIO FY26–FY28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9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182880" y="82296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577840" y="822960"/>
          <a:ext cx="3383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182880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82880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100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20040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Target cities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682496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682496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19656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50,000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819656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Kirana stores (Yr1)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182112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82112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19272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₹115 avg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319272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Tier-2 SKU price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81728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81728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18888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≤30%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818888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 spend cap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81344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81344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18504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Month 18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318504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Break-even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680960" y="3749040"/>
            <a:ext cx="14173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680960" y="3749040"/>
            <a:ext cx="54864" cy="8686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18120" y="3822192"/>
            <a:ext cx="12344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₹300–500 Cr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7818120" y="4200754"/>
            <a:ext cx="1234440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Investment req.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(Screener.in) | Projections based on management strategy assumptions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 REGISTER — THESE ARE REAL. HERE IS HOW TO HANDLE EACH.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10A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246888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2296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822960"/>
            <a:ext cx="1645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82296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 Impact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822960"/>
            <a:ext cx="86868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8229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Probability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40680" y="822960"/>
            <a:ext cx="34290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8229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Mitigation Strategy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21615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216152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216152"/>
            <a:ext cx="868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216152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2161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GT Distribution Fails to Scale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1371600"/>
            <a:ext cx="91440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1371600"/>
            <a:ext cx="777240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3716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513832" y="1216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Pilot in 10 cities before full rollout. Partner with established C&amp;F agents — don't build from scratch. JioMart B2B for last-mile.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1911096"/>
            <a:ext cx="246888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1911096"/>
            <a:ext cx="1645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1911096"/>
            <a:ext cx="86868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1911096"/>
            <a:ext cx="342900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19110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Ad Spend Bleeds Into Tier-2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2066544"/>
            <a:ext cx="91440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066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26280" y="2066544"/>
            <a:ext cx="77724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0665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13832" y="19110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Hard budget rule: Tier-2 ad spend ≤30% of Tier-2 revenue — non-negotiable. Micro-influencer CPM is 8–12× cheaper than paid social.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260604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260604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2606040"/>
            <a:ext cx="868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2606040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2606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Patanjali / HUL Price War in GT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0" y="2761488"/>
            <a:ext cx="91440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2761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26280" y="2761488"/>
            <a:ext cx="77724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27614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513832" y="26060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 NOT compete below ₹99. Compete on certified 'toxin-free' + ingredient transparency — these are not replicable by Patanjali without brand reset.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2880" y="3300984"/>
            <a:ext cx="246888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3300984"/>
            <a:ext cx="1645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300984"/>
            <a:ext cx="86868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3300984"/>
            <a:ext cx="342900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33009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Consumer Trust Gap Persists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3456432"/>
            <a:ext cx="91440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3456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26280" y="3456432"/>
            <a:ext cx="777240" cy="3474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34564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13832" y="33009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Free trial sachets (₹15) via Kirana stores. Partner with local pharmacies for 'recommended' shelf placement. Trust built at shelf, not screen.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2880" y="399592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0" y="3995928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0560" y="3995928"/>
            <a:ext cx="868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40680" y="3995928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" y="3995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Margin Squeeze Spooks Investors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017520" y="4151376"/>
            <a:ext cx="914400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0" y="41513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26280" y="4151376"/>
            <a:ext cx="777240" cy="347472"/>
          </a:xfrm>
          <a:prstGeom prst="ellipse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26280" y="41513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513832" y="399592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Pre-communicate Tier-2 as 3-year strategic investment. Present break-even model at Month 18. Frame as diversification, not growth spend.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RECOMMENDATIONS — THE 4-PART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A89E"/>
                </a:solidFill>
              </a:rPr>
              <a:t>Section 10B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8778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5029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229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896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Price is the gateway. Fix it first.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07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Launch ₹99–₹149 SKUs in Tier-2. Reduce pack size, not formula. This single move expands addressable market by 40% and removes the #1 purchase barrier without brand dilution.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828800"/>
            <a:ext cx="8778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828800"/>
            <a:ext cx="50292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8288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19019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Distribution is non-negotiable.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2128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65% of Tier-2 skincare is bought offline. Target: 50K Kirana stores across 100 cities in Year 1. Mamaearth cannot win a market it is not physically present 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834640"/>
            <a:ext cx="8778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834640"/>
            <a:ext cx="502920" cy="91440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B5A"/>
                </a:solidFill>
              </a:rPr>
              <a:t>Replace celebrity marketing with 500 regional micro-creators.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218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Instagram penetration in Tier-2: 42%. A regional creator at ₹15K delivers more ROI than a celebrity at ₹40L. 500 creators for ₹5–10 Cr vs ₹200 Cr on celebrity ads.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840480"/>
            <a:ext cx="8778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840480"/>
            <a:ext cx="502920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840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Profitability is the discipline — 30% ad cap, non-negotiable.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The national model is breaking at 53% ad/revenue. Tier-2 must be built differently. Hard rule: if ad spend crosses 30% of Tier-2 revenue, pause and recalibrate before scaling.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4773168"/>
            <a:ext cx="877824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FFFFFF"/>
                </a:solidFill>
              </a:rPr>
              <a:t>Bottom line: Mamaearth's Tier-2 opportunity is real — but the window is closing. Patanjali and HUL are not waiting. The strategy is specific, fundable, and executable in 18 months.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Source: Honasa Consumer FY25 Annual Report | Screener.in | IBEF | Euromonitor | IMRB 2024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Mamaearth Tier-2 Strategy — Honasa Consumer</dc:title>
  <dc:subject>PptxGenJS Presentation</dc:subject>
  <dc:creator>PptxGenJS</dc:creator>
  <cp:lastModifiedBy>PptxGenJS</cp:lastModifiedBy>
  <cp:revision>1</cp:revision>
  <dcterms:created xsi:type="dcterms:W3CDTF">2026-04-26T18:13:36Z</dcterms:created>
  <dcterms:modified xsi:type="dcterms:W3CDTF">2026-04-26T18:13:36Z</dcterms:modified>
</cp:coreProperties>
</file>